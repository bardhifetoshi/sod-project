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D2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2D2F"/>
                </a:solidFill>
                <a:latin typeface="Arial"/>
              </a:rPr>
              <a:t>Performance Comparison (0–1 scale)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15 Epochs</c:v>
                </c:pt>
              </c:strCache>
            </c:strRef>
          </c:tx>
          <c:spPr>
            <a:solidFill>
              <a:srgbClr val="C05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IoU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  <c:pt idx="4">
                    <c:v>MAE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0.4311</c:v>
                </c:pt>
                <c:pt idx="1">
                  <c:v>0.5692</c:v>
                </c:pt>
                <c:pt idx="2">
                  <c:v>0.7081</c:v>
                </c:pt>
                <c:pt idx="3">
                  <c:v>0.6078</c:v>
                </c:pt>
                <c:pt idx="4">
                  <c:v>0.2415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 Epochs</c:v>
                </c:pt>
              </c:strCache>
            </c:strRef>
          </c:tx>
          <c:spPr>
            <a:solidFill>
              <a:srgbClr val="D482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IoU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  <c:pt idx="4">
                    <c:v>MAE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0.4338</c:v>
                </c:pt>
                <c:pt idx="1">
                  <c:v>0.5502</c:v>
                </c:pt>
                <c:pt idx="2">
                  <c:v>0.7413</c:v>
                </c:pt>
                <c:pt idx="3">
                  <c:v>0.6082</c:v>
                </c:pt>
                <c:pt idx="4">
                  <c:v>0.2509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8E2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C0533A"/>
          </a:solidFill>
          <a:ln w="12700">
            <a:solidFill>
              <a:srgbClr val="C05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B84A31">
              <a:alpha val="70000"/>
            </a:srgbClr>
          </a:solidFill>
          <a:ln w="12700">
            <a:solidFill>
              <a:srgbClr val="B84A31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5400000">
            <a:off x="6492240" y="137160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FFC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· SOD · ECSSD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Salient Object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05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B0A8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CNN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3154680"/>
            <a:ext cx="2926080" cy="36576"/>
          </a:xfrm>
          <a:prstGeom prst="rect">
            <a:avLst/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337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pPr indent="0" marL="0">
              <a:buNone/>
            </a:pPr>
            <a:r>
              <a:rPr lang="en-US" sz="13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ECSSD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 </a:t>
            </a:r>
            <a:pPr indent="0" marL="0">
              <a:buNone/>
            </a:pPr>
            <a:r>
              <a:rPr lang="en-US" sz="13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Encoder-Decoder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977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 </a:t>
            </a:r>
            <a:pPr indent="0" marL="0">
              <a:buNone/>
            </a:pPr>
            <a:r>
              <a:rPr lang="en-US" sz="13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+ Dice  ·  Optimizer: Adam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480560"/>
            <a:ext cx="2560320" cy="45720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480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Fatbardh Fetoshi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533A"/>
          </a:solidFill>
          <a:ln w="12700">
            <a:solidFill>
              <a:srgbClr val="C05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Dataset, Preprocessing &amp;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7432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502920"/>
          </a:xfrm>
          <a:prstGeom prst="rect">
            <a:avLst/>
          </a:prstGeom>
          <a:solidFill>
            <a:srgbClr val="C0533A"/>
          </a:solidFill>
          <a:ln w="12700">
            <a:solidFill>
              <a:srgbClr val="C05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0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ECSSD Dataset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" y="1682496"/>
            <a:ext cx="109728" cy="109728"/>
          </a:xfrm>
          <a:prstGeom prst="ellipse">
            <a:avLst/>
          </a:prstGeom>
          <a:solidFill>
            <a:srgbClr val="C0533A"/>
          </a:solidFill>
          <a:ln w="12700">
            <a:solidFill>
              <a:srgbClr val="C053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600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images with ground truth binary masks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340864"/>
            <a:ext cx="109728" cy="109728"/>
          </a:xfrm>
          <a:prstGeom prst="ellipse">
            <a:avLst/>
          </a:prstGeom>
          <a:solidFill>
            <a:srgbClr val="C0533A"/>
          </a:solidFill>
          <a:ln w="12700">
            <a:solidFill>
              <a:srgbClr val="C05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258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Train / Validation / Test sets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999232"/>
            <a:ext cx="109728" cy="109728"/>
          </a:xfrm>
          <a:prstGeom prst="ellipse">
            <a:avLst/>
          </a:prstGeom>
          <a:solidFill>
            <a:srgbClr val="C0533A"/>
          </a:solidFill>
          <a:ln w="12700">
            <a:solidFill>
              <a:srgbClr val="C053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9169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never seen during training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96012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960120"/>
            <a:ext cx="2743200" cy="50292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960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64992" y="1682496"/>
            <a:ext cx="109728" cy="109728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7872" y="1600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all images to fixed dimensions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64992" y="2340864"/>
            <a:ext cx="109728" cy="109728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258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pixel values to [0, 1]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64992" y="2999232"/>
            <a:ext cx="109728" cy="109728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29169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masks: 0 = background, 1 = object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64992" y="3657600"/>
            <a:ext cx="109728" cy="109728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35753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H-flip, rotation, brightness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96012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960120"/>
            <a:ext cx="2743200" cy="502920"/>
          </a:xfrm>
          <a:prstGeom prst="rect">
            <a:avLst/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960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91072" y="1682496"/>
            <a:ext cx="109728" cy="109728"/>
          </a:xfrm>
          <a:prstGeom prst="ellipse">
            <a:avLst/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1600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Encoder-Decoder design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91072" y="2340864"/>
            <a:ext cx="109728" cy="109728"/>
          </a:xfrm>
          <a:prstGeom prst="ellipse">
            <a:avLst/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2258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 extracts high-level features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91072" y="2999232"/>
            <a:ext cx="109728" cy="109728"/>
          </a:xfrm>
          <a:prstGeom prst="ellipse">
            <a:avLst/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29169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Decoder: reconstructs saliency mask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91072" y="3657600"/>
            <a:ext cx="109728" cy="109728"/>
          </a:xfrm>
          <a:prstGeom prst="ellipse">
            <a:avLst/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35753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single-channel probability map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52728"/>
          </a:solidFill>
          <a:ln w="12700">
            <a:solidFill>
              <a:srgbClr val="2527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5943600" cy="36576"/>
          </a:xfrm>
          <a:prstGeom prst="rect">
            <a:avLst/>
          </a:prstGeom>
          <a:solidFill>
            <a:srgbClr val="C0533A"/>
          </a:solidFill>
          <a:ln w="12700">
            <a:solidFill>
              <a:srgbClr val="C053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126480" cy="914400"/>
          </a:xfrm>
          <a:prstGeom prst="rect">
            <a:avLst/>
          </a:prstGeom>
          <a:solidFill>
            <a:srgbClr val="363839"/>
          </a:solidFill>
          <a:ln w="12700">
            <a:solidFill>
              <a:srgbClr val="4648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" cy="914400"/>
          </a:xfrm>
          <a:prstGeom prst="rect">
            <a:avLst/>
          </a:prstGeom>
          <a:solidFill>
            <a:srgbClr val="C0533A"/>
          </a:solidFill>
          <a:ln w="12700">
            <a:solidFill>
              <a:srgbClr val="C05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B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38988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 =  BCE(pred, target)  +  Dice(pred, target)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2834640" cy="621792"/>
          </a:xfrm>
          <a:prstGeom prst="rect">
            <a:avLst/>
          </a:prstGeom>
          <a:solidFill>
            <a:srgbClr val="363839"/>
          </a:solidFill>
          <a:ln w="12700">
            <a:solidFill>
              <a:srgbClr val="4648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494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5054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2194560"/>
            <a:ext cx="2834640" cy="621792"/>
          </a:xfrm>
          <a:prstGeom prst="rect">
            <a:avLst/>
          </a:prstGeom>
          <a:solidFill>
            <a:srgbClr val="363839"/>
          </a:solidFill>
          <a:ln w="12700">
            <a:solidFill>
              <a:srgbClr val="4648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2494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03320" y="25054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44368"/>
            <a:ext cx="2834640" cy="621792"/>
          </a:xfrm>
          <a:prstGeom prst="rect">
            <a:avLst/>
          </a:prstGeom>
          <a:solidFill>
            <a:srgbClr val="363839"/>
          </a:solidFill>
          <a:ln w="12700">
            <a:solidFill>
              <a:srgbClr val="4648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992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2552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2944368"/>
            <a:ext cx="2834640" cy="621792"/>
          </a:xfrm>
          <a:prstGeom prst="rect">
            <a:avLst/>
          </a:prstGeom>
          <a:solidFill>
            <a:srgbClr val="363839"/>
          </a:solidFill>
          <a:ln w="12700">
            <a:solidFill>
              <a:srgbClr val="4648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29992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03320" y="32552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epochs  ·  20 epochs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94176"/>
            <a:ext cx="2834640" cy="621792"/>
          </a:xfrm>
          <a:prstGeom prst="rect">
            <a:avLst/>
          </a:prstGeom>
          <a:solidFill>
            <a:srgbClr val="363839"/>
          </a:solidFill>
          <a:ln w="12700">
            <a:solidFill>
              <a:srgbClr val="4648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7490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40050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saved on val loss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66160" y="3694176"/>
            <a:ext cx="2834640" cy="621792"/>
          </a:xfrm>
          <a:prstGeom prst="rect">
            <a:avLst/>
          </a:prstGeom>
          <a:solidFill>
            <a:srgbClr val="363839"/>
          </a:solidFill>
          <a:ln w="12700">
            <a:solidFill>
              <a:srgbClr val="4648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37490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03320" y="40050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H-flip, rotation, brightness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914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5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05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949440" y="1737360"/>
            <a:ext cx="1920240" cy="420624"/>
          </a:xfrm>
          <a:prstGeom prst="rect">
            <a:avLst/>
          </a:prstGeom>
          <a:solidFill>
            <a:srgbClr val="363839"/>
          </a:solidFill>
          <a:ln w="12700">
            <a:solidFill>
              <a:srgbClr val="4648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Load &amp; Augment Data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49440" y="2267712"/>
            <a:ext cx="1920240" cy="420624"/>
          </a:xfrm>
          <a:prstGeom prst="rect">
            <a:avLst/>
          </a:prstGeom>
          <a:solidFill>
            <a:srgbClr val="2E2F30"/>
          </a:solidFill>
          <a:ln w="12700">
            <a:solidFill>
              <a:srgbClr val="4648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Forward Pass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2798064"/>
            <a:ext cx="1920240" cy="420624"/>
          </a:xfrm>
          <a:prstGeom prst="rect">
            <a:avLst/>
          </a:prstGeom>
          <a:solidFill>
            <a:srgbClr val="363839"/>
          </a:solidFill>
          <a:ln w="12700">
            <a:solidFill>
              <a:srgbClr val="4648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2862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Compute BCE + Dice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49440" y="3328416"/>
            <a:ext cx="1920240" cy="420624"/>
          </a:xfrm>
          <a:prstGeom prst="rect">
            <a:avLst/>
          </a:prstGeom>
          <a:solidFill>
            <a:srgbClr val="2E2F30"/>
          </a:solidFill>
          <a:ln w="12700">
            <a:solidFill>
              <a:srgbClr val="4648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3392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Backpropagate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49440" y="3858768"/>
            <a:ext cx="1920240" cy="420624"/>
          </a:xfrm>
          <a:prstGeom prst="rect">
            <a:avLst/>
          </a:prstGeom>
          <a:solidFill>
            <a:srgbClr val="363839"/>
          </a:solidFill>
          <a:ln w="12700">
            <a:solidFill>
              <a:srgbClr val="4648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3922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Save Best Checkpoint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49440" y="4389120"/>
            <a:ext cx="1920240" cy="420624"/>
          </a:xfrm>
          <a:prstGeom prst="rect">
            <a:avLst/>
          </a:prstGeom>
          <a:solidFill>
            <a:srgbClr val="2E2F30"/>
          </a:solidFill>
          <a:ln w="12700">
            <a:solidFill>
              <a:srgbClr val="4648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Early Eval on Val Set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7432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029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932688"/>
            <a:ext cx="3291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932688"/>
            <a:ext cx="54864" cy="676656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0" y="9966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IoU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0" y="13167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ep: 0.431  →  20 ep: 0.434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80960" y="108813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+0.003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577840" y="1728216"/>
            <a:ext cx="3291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728216"/>
            <a:ext cx="54864" cy="676656"/>
          </a:xfrm>
          <a:prstGeom prst="rect">
            <a:avLst/>
          </a:prstGeom>
          <a:solidFill>
            <a:srgbClr val="C0533A"/>
          </a:solidFill>
          <a:ln w="12700">
            <a:solidFill>
              <a:srgbClr val="C053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0" y="17922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15000" y="21122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ep: 0.569  →  20 ep: 0.550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680960" y="188366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0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−0.019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577840" y="2523744"/>
            <a:ext cx="3291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2523744"/>
            <a:ext cx="54864" cy="676656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5000" y="25877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715000" y="2907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ep: 0.708  →  20 ep: 0.741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680960" y="26791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+0.033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577840" y="3319272"/>
            <a:ext cx="3291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77840" y="3319272"/>
            <a:ext cx="54864" cy="676656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15000" y="33832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F1-Score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715000" y="3703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ep: 0.608  →  20 ep: 0.608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680960" y="34747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+0.000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577840" y="4114800"/>
            <a:ext cx="3291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577840" y="4114800"/>
            <a:ext cx="54864" cy="676656"/>
          </a:xfrm>
          <a:prstGeom prst="rect">
            <a:avLst/>
          </a:prstGeom>
          <a:solidFill>
            <a:srgbClr val="C0533A"/>
          </a:solidFill>
          <a:ln w="12700">
            <a:solidFill>
              <a:srgbClr val="C0533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15000" y="417880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715000" y="4498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ep: 0.242  →  20 ep: 0.251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680960" y="427024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0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+0.009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 &amp; Conclusions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3657600" cy="36576"/>
          </a:xfrm>
          <a:prstGeom prst="rect">
            <a:avLst/>
          </a:prstGeom>
          <a:solidFill>
            <a:srgbClr val="C0533A"/>
          </a:solidFill>
          <a:ln w="12700">
            <a:solidFill>
              <a:srgbClr val="C053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389120" cy="3977640"/>
          </a:xfrm>
          <a:prstGeom prst="rect">
            <a:avLst/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438912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846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·  Ground Truth  ·  Overlay  ·  Prediction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74920" y="960120"/>
            <a:ext cx="3749040" cy="841248"/>
          </a:xfrm>
          <a:prstGeom prst="rect">
            <a:avLst/>
          </a:prstGeom>
          <a:solidFill>
            <a:srgbClr val="363839"/>
          </a:solidFill>
          <a:ln w="12700">
            <a:solidFill>
              <a:srgbClr val="4648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166360" y="1124712"/>
            <a:ext cx="475488" cy="475488"/>
          </a:xfrm>
          <a:prstGeom prst="ellipse">
            <a:avLst/>
          </a:prstGeom>
          <a:solidFill>
            <a:srgbClr val="C0533A"/>
          </a:solidFill>
          <a:ln w="12700">
            <a:solidFill>
              <a:srgbClr val="C053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66360" y="1124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42432" y="10332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Detects Main Objects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42432" y="134416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D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encoder-decoder successfully identifies the primary salient region in most images.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74920" y="1965960"/>
            <a:ext cx="3749040" cy="841248"/>
          </a:xfrm>
          <a:prstGeom prst="rect">
            <a:avLst/>
          </a:prstGeom>
          <a:solidFill>
            <a:srgbClr val="363839"/>
          </a:solidFill>
          <a:ln w="12700">
            <a:solidFill>
              <a:srgbClr val="4648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66360" y="2130552"/>
            <a:ext cx="475488" cy="475488"/>
          </a:xfrm>
          <a:prstGeom prst="ellipse">
            <a:avLst/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66360" y="2130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742432" y="20391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Improves with Epochs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42432" y="235000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D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20-epoch model detects more of the target object (+3.3 pp), showing better coverage.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74920" y="2971800"/>
            <a:ext cx="3749040" cy="841248"/>
          </a:xfrm>
          <a:prstGeom prst="rect">
            <a:avLst/>
          </a:prstGeom>
          <a:solidFill>
            <a:srgbClr val="363839"/>
          </a:solidFill>
          <a:ln w="12700">
            <a:solidFill>
              <a:srgbClr val="4648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166360" y="3136392"/>
            <a:ext cx="475488" cy="475488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636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742432" y="3044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Precision–Recall Trade-off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742432" y="335584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D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epochs boost recall but slightly lower precision — the model captures more background.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74920" y="3977640"/>
            <a:ext cx="3749040" cy="841248"/>
          </a:xfrm>
          <a:prstGeom prst="rect">
            <a:avLst/>
          </a:prstGeom>
          <a:solidFill>
            <a:srgbClr val="363839"/>
          </a:solidFill>
          <a:ln w="12700">
            <a:solidFill>
              <a:srgbClr val="4648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166360" y="4142232"/>
            <a:ext cx="475488" cy="475488"/>
          </a:xfrm>
          <a:prstGeom prst="ellipse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66360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742432" y="40507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Boundary Challenges Remain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742432" y="436168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D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and IoU gains are marginal. Fine boundary detail needs more advanced techniques.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Salient Object Detection using CNN</dc:title>
  <dc:subject>PptxGenJS Presentation</dc:subject>
  <dc:creator>Fatbardh Fetoshi</dc:creator>
  <cp:lastModifiedBy>Fatbardh Fetoshi</cp:lastModifiedBy>
  <cp:revision>1</cp:revision>
  <dcterms:created xsi:type="dcterms:W3CDTF">2026-05-08T18:21:44Z</dcterms:created>
  <dcterms:modified xsi:type="dcterms:W3CDTF">2026-05-08T18:21:44Z</dcterms:modified>
</cp:coreProperties>
</file>